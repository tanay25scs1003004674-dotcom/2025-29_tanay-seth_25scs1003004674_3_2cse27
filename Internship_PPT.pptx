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image" Target="../media/image-3-2.png"/><Relationship Id="rId6" Type="http://schemas.openxmlformats.org/officeDocument/2006/relationships/image" Target="../media/image-3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081A33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5120640"/>
            <a:ext cx="2377440" cy="2377440"/>
          </a:xfrm>
          <a:prstGeom prst="ellipse">
            <a:avLst/>
          </a:prstGeom>
          <a:solidFill>
            <a:srgbClr val="C98B00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5852160"/>
            <a:ext cx="822960" cy="822960"/>
          </a:xfrm>
          <a:prstGeom prst="ellipse">
            <a:avLst/>
          </a:prstGeom>
          <a:solidFill>
            <a:srgbClr val="081A33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822960" cy="822960"/>
          </a:xfrm>
          <a:prstGeom prst="ellipse">
            <a:avLst/>
          </a:prstGeom>
          <a:solidFill>
            <a:srgbClr val="FFC72C"/>
          </a:solidFill>
          <a:ln/>
        </p:spPr>
      </p:sp>
      <p:pic>
        <p:nvPicPr>
          <p:cNvPr id="6" name="Image 0" descr="/home/claude/work/pptxgen/icons/shiel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246" y="779526"/>
            <a:ext cx="452628" cy="4526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331720"/>
            <a:ext cx="9692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CYBERSECURITY AWARENESS WEB PAGE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58368" y="37033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&amp; Brand-Styling a Customer Cybersecurity-Tips Page for Commonwealth Bank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58368" y="4206240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Software Engineering – Virtual Job Simulation, Forage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58368" y="5074920"/>
            <a:ext cx="2743200" cy="0"/>
          </a:xfrm>
          <a:prstGeom prst="line">
            <a:avLst/>
          </a:prstGeom>
          <a:noFill/>
          <a:ln w="19050">
            <a:solidFill>
              <a:srgbClr val="C98B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52578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NAME]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[ROLL NUMBER]  |  [BATCH]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Engineering, IILM University, Greater Noida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Simulation &amp; the Organization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475720" y="320040"/>
            <a:ext cx="457200" cy="457200"/>
          </a:xfrm>
          <a:prstGeom prst="ellipse">
            <a:avLst/>
          </a:prstGeom>
          <a:solidFill>
            <a:srgbClr val="C98B0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94360" cy="594360"/>
          </a:xfrm>
          <a:prstGeom prst="ellipse">
            <a:avLst/>
          </a:prstGeom>
          <a:solidFill>
            <a:srgbClr val="F4F6FA"/>
          </a:solidFill>
          <a:ln/>
        </p:spPr>
      </p:sp>
      <p:pic>
        <p:nvPicPr>
          <p:cNvPr id="5" name="Image 0" descr="/home/claude/work/pptxgen/icons/briefcas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371" y="1505331"/>
            <a:ext cx="326898" cy="3268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417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Forage – Virtual Job Simulations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196596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platform offering self-paced, task-based simulations designed with real companies – complete with pre-recorded briefings, brand assets and example team feedback.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429000"/>
            <a:ext cx="594360" cy="594360"/>
          </a:xfrm>
          <a:prstGeom prst="ellipse">
            <a:avLst/>
          </a:prstGeom>
          <a:solidFill>
            <a:srgbClr val="F4F6FA"/>
          </a:solidFill>
          <a:ln/>
        </p:spPr>
      </p:sp>
      <p:pic>
        <p:nvPicPr>
          <p:cNvPr id="9" name="Image 1" descr="/home/claude/work/pptxgen/icons/glob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371" y="3562731"/>
            <a:ext cx="326898" cy="32689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3474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Commonwealth Bank of Australia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48640" y="402336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Australia's leading technology bank – its engineering teams build both the customer apps and the underlying systems that power the nation's banking.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46520" y="1554480"/>
            <a:ext cx="1691640" cy="1783080"/>
          </a:xfrm>
          <a:prstGeom prst="roundRect">
            <a:avLst>
              <a:gd name="adj" fmla="val 4324"/>
            </a:avLst>
          </a:prstGeom>
          <a:solidFill>
            <a:srgbClr val="0B2545"/>
          </a:solidFill>
          <a:ln/>
        </p:spPr>
      </p:sp>
      <p:sp>
        <p:nvSpPr>
          <p:cNvPr id="13" name="Text 9"/>
          <p:cNvSpPr/>
          <p:nvPr/>
        </p:nvSpPr>
        <p:spPr>
          <a:xfrm>
            <a:off x="6446520" y="178308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6556248" y="2514600"/>
            <a:ext cx="14721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Australian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processed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321040" y="1554480"/>
            <a:ext cx="1691640" cy="1783080"/>
          </a:xfrm>
          <a:prstGeom prst="roundRect">
            <a:avLst>
              <a:gd name="adj" fmla="val 4324"/>
            </a:avLst>
          </a:prstGeom>
          <a:solidFill>
            <a:srgbClr val="0B2545"/>
          </a:solidFill>
          <a:ln/>
        </p:spPr>
      </p:sp>
      <p:sp>
        <p:nvSpPr>
          <p:cNvPr id="16" name="Text 12"/>
          <p:cNvSpPr/>
          <p:nvPr/>
        </p:nvSpPr>
        <p:spPr>
          <a:xfrm>
            <a:off x="8321040" y="178308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17M+</a:t>
            </a:r>
            <a:endParaRPr lang="en-US" sz="3000" dirty="0"/>
          </a:p>
        </p:txBody>
      </p:sp>
      <p:sp>
        <p:nvSpPr>
          <p:cNvPr id="17" name="Text 13"/>
          <p:cNvSpPr/>
          <p:nvPr/>
        </p:nvSpPr>
        <p:spPr>
          <a:xfrm>
            <a:off x="8430768" y="2514600"/>
            <a:ext cx="14721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served by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CommBank technology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10195560" y="1554480"/>
            <a:ext cx="1691640" cy="1783080"/>
          </a:xfrm>
          <a:prstGeom prst="roundRect">
            <a:avLst>
              <a:gd name="adj" fmla="val 4324"/>
            </a:avLst>
          </a:prstGeom>
          <a:solidFill>
            <a:srgbClr val="0B2545"/>
          </a:solidFill>
          <a:ln/>
        </p:spPr>
      </p:sp>
      <p:sp>
        <p:nvSpPr>
          <p:cNvPr id="19" name="Text 15"/>
          <p:cNvSpPr/>
          <p:nvPr/>
        </p:nvSpPr>
        <p:spPr>
          <a:xfrm>
            <a:off x="10195560" y="178308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6"/>
          <p:cNvSpPr/>
          <p:nvPr/>
        </p:nvSpPr>
        <p:spPr>
          <a:xfrm>
            <a:off x="10305288" y="2514600"/>
            <a:ext cx="14721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engineering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completed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446520" y="361188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/>
        </p:spPr>
      </p:sp>
      <p:sp>
        <p:nvSpPr>
          <p:cNvPr id="22" name="Text 18"/>
          <p:cNvSpPr/>
          <p:nvPr/>
        </p:nvSpPr>
        <p:spPr>
          <a:xfrm>
            <a:off x="6720840" y="3749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720840" y="40690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secure a website providing financial cybersecurity tips to CommBank's clients – stepping into the shoes of a software engineering team member.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Commonwealth Bank – Introduction to Software Engineering (Forage)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0972800" y="6528816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475720" y="320040"/>
            <a:ext cx="457200" cy="457200"/>
          </a:xfrm>
          <a:prstGeom prst="ellipse">
            <a:avLst/>
          </a:prstGeom>
          <a:solidFill>
            <a:srgbClr val="C98B0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0B2545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691640"/>
            <a:ext cx="548640" cy="548640"/>
          </a:xfrm>
          <a:prstGeom prst="ellipse">
            <a:avLst/>
          </a:prstGeom>
          <a:solidFill>
            <a:srgbClr val="FFC72C"/>
          </a:solidFill>
          <a:ln/>
        </p:spPr>
      </p:sp>
      <p:pic>
        <p:nvPicPr>
          <p:cNvPr id="6" name="Image 0" descr="/home/claude/work/pptxgen/icons/aler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181508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373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33172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banking moves online, customers face rising threats – phishing, credential theft, unauthorized account access. Banks need clear, on-brand education that builds customer trust while reducing fraud.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68680" y="3794760"/>
            <a:ext cx="4754880" cy="0"/>
          </a:xfrm>
          <a:prstGeom prst="line">
            <a:avLst/>
          </a:prstGeom>
          <a:noFill/>
          <a:ln w="12700">
            <a:solidFill>
              <a:srgbClr val="1C3A6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397764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engineering challenge: translate that need into a working, accessible, on-brand web page – built and refined the way a real front-end team would.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17220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172200" y="1874520"/>
            <a:ext cx="402336" cy="402336"/>
          </a:xfrm>
          <a:prstGeom prst="ellipse">
            <a:avLst/>
          </a:prstGeom>
          <a:solidFill>
            <a:srgbClr val="F4F6FA"/>
          </a:solidFill>
          <a:ln/>
        </p:spPr>
      </p:sp>
      <p:pic>
        <p:nvPicPr>
          <p:cNvPr id="13" name="Image 1" descr="/home/claude/work/pptxgen/icons/che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2726" y="1965046"/>
            <a:ext cx="221285" cy="22128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720840" y="1856232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functional, semantic web page listing key cybersecurity tips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72200" y="2715768"/>
            <a:ext cx="402336" cy="402336"/>
          </a:xfrm>
          <a:prstGeom prst="ellipse">
            <a:avLst/>
          </a:prstGeom>
          <a:solidFill>
            <a:srgbClr val="F4F6FA"/>
          </a:solidFill>
          <a:ln/>
        </p:spPr>
      </p:sp>
      <p:pic>
        <p:nvPicPr>
          <p:cNvPr id="16" name="Image 2" descr="/home/claude/work/pptxgen/icons/chec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726" y="2806294"/>
            <a:ext cx="221285" cy="22128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20840" y="269748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Iteratively expand &amp; refine content based on review feedback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172200" y="3557016"/>
            <a:ext cx="402336" cy="402336"/>
          </a:xfrm>
          <a:prstGeom prst="ellipse">
            <a:avLst/>
          </a:prstGeom>
          <a:solidFill>
            <a:srgbClr val="F4F6FA"/>
          </a:solidFill>
          <a:ln/>
        </p:spPr>
      </p:sp>
      <p:pic>
        <p:nvPicPr>
          <p:cNvPr id="19" name="Image 3" descr="/home/claude/work/pptxgen/icons/che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726" y="3647542"/>
            <a:ext cx="221285" cy="22128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720840" y="3538728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Commonwealth Bank's official style guide precisely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172200" y="4398264"/>
            <a:ext cx="402336" cy="402336"/>
          </a:xfrm>
          <a:prstGeom prst="ellipse">
            <a:avLst/>
          </a:prstGeom>
          <a:solidFill>
            <a:srgbClr val="F4F6FA"/>
          </a:solidFill>
          <a:ln/>
        </p:spPr>
      </p:sp>
      <p:pic>
        <p:nvPicPr>
          <p:cNvPr id="22" name="Image 4" descr="/home/claude/work/pptxgen/icons/check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2726" y="4488790"/>
            <a:ext cx="221285" cy="22128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720840" y="4379976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legibility, accessibility and clear visual hierarchy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6172200" y="5239512"/>
            <a:ext cx="402336" cy="402336"/>
          </a:xfrm>
          <a:prstGeom prst="ellipse">
            <a:avLst/>
          </a:prstGeom>
          <a:solidFill>
            <a:srgbClr val="F4F6FA"/>
          </a:solidFill>
          <a:ln/>
        </p:spPr>
      </p:sp>
      <p:pic>
        <p:nvPicPr>
          <p:cNvPr id="25" name="Image 5" descr="/home/claude/work/pptxgen/icons/check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2726" y="5330038"/>
            <a:ext cx="221285" cy="22128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20840" y="5221224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the finished page for public hosting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Commonwealth Bank – Introduction to Software Engineering (Forage)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0972800" y="6528816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– Three Iterative Tasks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475720" y="320040"/>
            <a:ext cx="457200" cy="457200"/>
          </a:xfrm>
          <a:prstGeom prst="ellipse">
            <a:avLst/>
          </a:prstGeom>
          <a:solidFill>
            <a:srgbClr val="C98B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review → refine → brand-align → release, mirroring a real front-end engineering workflow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920240"/>
            <a:ext cx="731520" cy="73152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7" name="Image 0" descr="/home/claude/work/pptxgen/icons/cod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08483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278892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10896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Base Page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68680" y="379476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semantic HTML5 structure with 3 core tips (passwords, MFA, phishing). Baseline CSS establishes visual hierarchy.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14800" y="33832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425696" y="160020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45736" y="1920240"/>
            <a:ext cx="731520" cy="73152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4" name="Image 1" descr="/home/claude/work/pptxgen/icons/edit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2084832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45736" y="278892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745736" y="310896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 &amp; Refine Content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4745736" y="379476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rewritten with explanatory depth; 2 more added (public Wi-Fi, device updates) – 5 tips total. Layout &amp; readability refined.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7991856" y="33832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8302752" y="160020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622792" y="1920240"/>
            <a:ext cx="731520" cy="73152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21" name="Image 2" descr="/home/claude/work/pptxgen/icons/shield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7384" y="2084832"/>
            <a:ext cx="402336" cy="40233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622792" y="278892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8622792" y="310896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Guide &amp; Hosting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8622792" y="379476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Re-skinned to CommBank's colours, type &amp; layout rules. Semantic landmarks added; page finalised for public hosting.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Commonwealth Bank – Introduction to Software Engineering (Forage)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0972800" y="6528816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Draft to Brand-Compliant Page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475720" y="274320"/>
            <a:ext cx="457200" cy="457200"/>
          </a:xfrm>
          <a:prstGeom prst="ellipse">
            <a:avLst/>
          </a:prstGeom>
          <a:solidFill>
            <a:srgbClr val="C98B0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3484778" cy="4892040"/>
          </a:xfrm>
          <a:prstGeom prst="roundRect">
            <a:avLst>
              <a:gd name="adj" fmla="val 1574"/>
            </a:avLst>
          </a:prstGeom>
          <a:solidFill>
            <a:srgbClr val="F4F6FA"/>
          </a:solidFill>
          <a:ln w="12700">
            <a:solidFill>
              <a:srgbClr val="E1E5EC"/>
            </a:solidFill>
            <a:prstDash val="solid"/>
          </a:ln>
        </p:spPr>
      </p:sp>
      <p:pic>
        <p:nvPicPr>
          <p:cNvPr id="5" name="Image 0" descr="/home/claude/work/screenshot_v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210458" cy="19405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577840"/>
            <a:ext cx="33018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– Base (3 tips)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353458" y="1143000"/>
            <a:ext cx="3484778" cy="4892040"/>
          </a:xfrm>
          <a:prstGeom prst="roundRect">
            <a:avLst>
              <a:gd name="adj" fmla="val 1574"/>
            </a:avLst>
          </a:prstGeom>
          <a:solidFill>
            <a:srgbClr val="F4F6FA"/>
          </a:solidFill>
          <a:ln w="12700">
            <a:solidFill>
              <a:srgbClr val="E1E5EC"/>
            </a:solidFill>
            <a:prstDash val="solid"/>
          </a:ln>
        </p:spPr>
      </p:sp>
      <p:pic>
        <p:nvPicPr>
          <p:cNvPr id="8" name="Image 1" descr="/home/claude/work/screenshot_v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1233" y="1325880"/>
            <a:ext cx="3189230" cy="42062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44898" y="5577840"/>
            <a:ext cx="33018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– Expanded (5 tips)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8158277" y="1143000"/>
            <a:ext cx="3484778" cy="4892040"/>
          </a:xfrm>
          <a:prstGeom prst="roundRect">
            <a:avLst>
              <a:gd name="adj" fmla="val 1574"/>
            </a:avLst>
          </a:prstGeom>
          <a:solidFill>
            <a:srgbClr val="F4F6FA"/>
          </a:solidFill>
          <a:ln w="12700">
            <a:solidFill>
              <a:srgbClr val="E1E5EC"/>
            </a:solidFill>
            <a:prstDash val="solid"/>
          </a:ln>
        </p:spPr>
      </p:sp>
      <p:pic>
        <p:nvPicPr>
          <p:cNvPr id="11" name="Image 2" descr="/home/claude/work/screenshot_v3_cr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9061" y="1325880"/>
            <a:ext cx="2163209" cy="42062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49717" y="5577840"/>
            <a:ext cx="33018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– CommBank Brand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Commonwealth Bank – Introduction to Software Engineering (Forage)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0972800" y="6528816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754880"/>
            <a:ext cx="3291840" cy="3291840"/>
          </a:xfrm>
          <a:prstGeom prst="ellipse">
            <a:avLst/>
          </a:prstGeom>
          <a:solidFill>
            <a:srgbClr val="081A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&amp; Key Outcomes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411480"/>
            <a:ext cx="457200" cy="457200"/>
          </a:xfrm>
          <a:prstGeom prst="ellipse">
            <a:avLst/>
          </a:prstGeom>
          <a:solidFill>
            <a:srgbClr val="C98B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25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65760" cy="365760"/>
          </a:xfrm>
          <a:prstGeom prst="ellipse">
            <a:avLst/>
          </a:prstGeom>
          <a:solidFill>
            <a:srgbClr val="132C50"/>
          </a:solidFill>
          <a:ln/>
        </p:spPr>
      </p:sp>
      <p:pic>
        <p:nvPicPr>
          <p:cNvPr id="7" name="Image 0" descr="/home/claude/work/pptxgen/icons/layers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1911096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801368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(semantic structure)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395728"/>
            <a:ext cx="365760" cy="365760"/>
          </a:xfrm>
          <a:prstGeom prst="ellipse">
            <a:avLst/>
          </a:prstGeom>
          <a:solidFill>
            <a:srgbClr val="132C50"/>
          </a:solidFill>
          <a:ln/>
        </p:spPr>
      </p:sp>
      <p:pic>
        <p:nvPicPr>
          <p:cNvPr id="10" name="Image 1" descr="/home/claude/work/pptxgen/icons/layers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478024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2368296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&amp; Flexbox (styling, layout)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2962656"/>
            <a:ext cx="365760" cy="365760"/>
          </a:xfrm>
          <a:prstGeom prst="ellipse">
            <a:avLst/>
          </a:prstGeom>
          <a:solidFill>
            <a:srgbClr val="132C50"/>
          </a:solidFill>
          <a:ln/>
        </p:spPr>
      </p:sp>
      <p:pic>
        <p:nvPicPr>
          <p:cNvPr id="13" name="Image 2" descr="/home/claude/work/pptxgen/icons/layers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3044952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51560" y="2935224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style-guide implementation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3529584"/>
            <a:ext cx="365760" cy="365760"/>
          </a:xfrm>
          <a:prstGeom prst="ellipse">
            <a:avLst/>
          </a:prstGeom>
          <a:solidFill>
            <a:srgbClr val="132C50"/>
          </a:solidFill>
          <a:ln/>
        </p:spPr>
      </p:sp>
      <p:pic>
        <p:nvPicPr>
          <p:cNvPr id="16" name="Image 3" descr="/home/claude/work/pptxgen/icons/layers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3611880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51560" y="3502152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hosting (public deployment)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5532120" y="1371600"/>
            <a:ext cx="0" cy="4846320"/>
          </a:xfrm>
          <a:prstGeom prst="line">
            <a:avLst/>
          </a:prstGeom>
          <a:noFill/>
          <a:ln w="12700">
            <a:solidFill>
              <a:srgbClr val="1C3A63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5943600" y="1325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Outcomes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5943600" y="1828800"/>
            <a:ext cx="457200" cy="457200"/>
          </a:xfrm>
          <a:prstGeom prst="ellipse">
            <a:avLst/>
          </a:prstGeom>
          <a:solidFill>
            <a:srgbClr val="132C50"/>
          </a:solidFill>
          <a:ln/>
        </p:spPr>
      </p:sp>
      <p:pic>
        <p:nvPicPr>
          <p:cNvPr id="21" name="Image 4" descr="/home/claude/work/pptxgen/icons/award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6470" y="1931670"/>
            <a:ext cx="251460" cy="2514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583680" y="178308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Forage certificate of completion, added to resume/LinkedIn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5943600" y="2697480"/>
            <a:ext cx="457200" cy="457200"/>
          </a:xfrm>
          <a:prstGeom prst="ellipse">
            <a:avLst/>
          </a:prstGeom>
          <a:solidFill>
            <a:srgbClr val="132C50"/>
          </a:solidFill>
          <a:ln/>
        </p:spPr>
      </p:sp>
      <p:pic>
        <p:nvPicPr>
          <p:cNvPr id="24" name="Image 5" descr="/home/claude/work/pptxgen/icons/users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6470" y="2800350"/>
            <a:ext cx="251460" cy="25146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583680" y="265176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experience of an iterative, feedback-driven engineering workflow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5943600" y="3566160"/>
            <a:ext cx="457200" cy="457200"/>
          </a:xfrm>
          <a:prstGeom prst="ellipse">
            <a:avLst/>
          </a:prstGeom>
          <a:solidFill>
            <a:srgbClr val="132C50"/>
          </a:solidFill>
          <a:ln/>
        </p:spPr>
      </p:sp>
      <p:pic>
        <p:nvPicPr>
          <p:cNvPr id="27" name="Image 6" descr="/home/claude/work/pptxgen/icons/eye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6470" y="3669030"/>
            <a:ext cx="251460" cy="25146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583680" y="352044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Accessibility-aware design skills – contrast, large-print typography</a:t>
            </a:r>
            <a:endParaRPr lang="en-US" sz="1250" dirty="0"/>
          </a:p>
        </p:txBody>
      </p:sp>
      <p:sp>
        <p:nvSpPr>
          <p:cNvPr id="29" name="Shape 20"/>
          <p:cNvSpPr/>
          <p:nvPr/>
        </p:nvSpPr>
        <p:spPr>
          <a:xfrm>
            <a:off x="5943600" y="4434840"/>
            <a:ext cx="457200" cy="457200"/>
          </a:xfrm>
          <a:prstGeom prst="ellipse">
            <a:avLst/>
          </a:prstGeom>
          <a:solidFill>
            <a:srgbClr val="132C50"/>
          </a:solidFill>
          <a:ln/>
        </p:spPr>
      </p:sp>
      <p:pic>
        <p:nvPicPr>
          <p:cNvPr id="30" name="Image 7" descr="/home/claude/work/pptxgen/icons/shield_gol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46470" y="4537710"/>
            <a:ext cx="251460" cy="25146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6583680" y="438912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implementing a formal brand/design system faithfully</a:t>
            </a:r>
            <a:endParaRPr lang="en-US" sz="1250" dirty="0"/>
          </a:p>
        </p:txBody>
      </p:sp>
      <p:sp>
        <p:nvSpPr>
          <p:cNvPr id="32" name="Text 22"/>
          <p:cNvSpPr/>
          <p:nvPr/>
        </p:nvSpPr>
        <p:spPr>
          <a:xfrm>
            <a:off x="548640" y="6172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33" name="Text 23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Commonwealth Bank – Introduction to Software Engineering (Forage)</a:t>
            </a:r>
            <a:endParaRPr lang="en-US" sz="900" dirty="0"/>
          </a:p>
        </p:txBody>
      </p:sp>
      <p:sp>
        <p:nvSpPr>
          <p:cNvPr id="34" name="Text 24"/>
          <p:cNvSpPr/>
          <p:nvPr/>
        </p:nvSpPr>
        <p:spPr>
          <a:xfrm>
            <a:off x="10972800" y="6528816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2026-08-24T09:04:41Z</dcterms:created>
  <dcterms:modified xsi:type="dcterms:W3CDTF">2026-08-24T09:04:41Z</dcterms:modified>
</cp:coreProperties>
</file>